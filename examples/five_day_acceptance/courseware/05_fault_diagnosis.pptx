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https://www.rfc-editor.org/info/rfc9293/</a:t>
            </a:r>
          </a:p>
          <a:p>
            <a:r>
              <a:t>- https://www.rfc-editor.org/info/rfc1122/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https://www.rfc-editor.org/info/rfc9293/</a:t>
            </a:r>
          </a:p>
          <a:p>
            <a:r>
              <a:t>- https://www.rfc-editor.org/info/rfc1122/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https://www.rfc-editor.org/info/rfc9293/</a:t>
            </a:r>
          </a:p>
          <a:p>
            <a:r>
              <a:t>- https://www.rfc-editor.org/info/rfc1122/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https://www.rfc-editor.org/info/rfc9293/</a:t>
            </a:r>
          </a:p>
          <a:p>
            <a:r>
              <a:t>- https://www.rfc-editor.org/info/rfc1122/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https://www.rfc-editor.org/info/rfc9293/</a:t>
            </a:r>
          </a:p>
          <a:p>
            <a:r>
              <a:t>- https://www.rfc-editor.org/info/rfc1122/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https://www.rfc-editor.org/info/rfc9293/</a:t>
            </a:r>
          </a:p>
          <a:p>
            <a:r>
              <a:t>- https://www.rfc-editor.org/info/rfc1122/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https://www.rfc-editor.org/info/rfc9293/</a:t>
            </a:r>
          </a:p>
          <a:p>
            <a:r>
              <a:t>- https://www.rfc-editor.org/info/rfc1122/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https://www.rfc-editor.org/info/rfc9293/</a:t>
            </a:r>
          </a:p>
          <a:p>
            <a:r>
              <a:t>- https://www.rfc-editor.org/info/rfc1122/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https://www.rfc-editor.org/info/rfc9293/</a:t>
            </a:r>
          </a:p>
          <a:p>
            <a:r>
              <a:t>- https://www.rfc-editor.org/info/rfc1122/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ver-kicker"/>
          <p:cNvSpPr>
            <a:spLocks noGrp="1"/>
          </p:cNvSpPr>
          <p:nvPr/>
        </p:nvSpPr>
        <p:spPr>
          <a:xfrm>
            <a:off x="400050" y="400050"/>
            <a:ext cx="68580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lnSpc>
                <a:spcPct val="105000"/>
              </a:lnSpc>
              <a:spcAft>
                <a:spcPts val="0"/>
              </a:spcAft>
              <a:buNone/>
              <a:defRPr sz="1800">
                <a:solidFill>
                  <a:srgbClr val="5864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5864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计算机网络核心原理与故障诊断</a:t>
            </a:r>
            <a:endParaRPr sz="1800" b="1">
              <a:solidFill>
                <a:srgbClr val="5864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cover-title"/>
          <p:cNvSpPr>
            <a:spLocks noGrp="1"/>
          </p:cNvSpPr>
          <p:nvPr/>
        </p:nvSpPr>
        <p:spPr>
          <a:xfrm>
            <a:off x="400050" y="1666875"/>
            <a:ext cx="10001250" cy="2238375"/>
          </a:xfrm>
          <a:prstGeom prst="rect">
            <a:avLst/>
          </a:prstGeom>
        </p:spPr>
        <p:txBody>
          <a:bodyPr lIns="0" tIns="0" rIns="0" bIns="0" anchor="b"/>
          <a:lstStyle/>
          <a:p>
            <a:pPr>
              <a:lnSpc>
                <a:spcPct val="92000"/>
              </a:lnSpc>
              <a:spcAft>
                <a:spcPts val="0"/>
              </a:spcAft>
              <a:buNone/>
              <a:defRPr sz="5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4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从现象到证据：网络故障诊断</a:t>
            </a:r>
            <a:endParaRPr sz="54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cover-subtitle"/>
          <p:cNvSpPr>
            <a:spLocks noGrp="1"/>
          </p:cNvSpPr>
          <p:nvPr/>
        </p:nvSpPr>
        <p:spPr>
          <a:xfrm>
            <a:off x="400050" y="4667250"/>
            <a:ext cx="7620000" cy="762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lnSpc>
                <a:spcPct val="105000"/>
              </a:lnSpc>
              <a:spcAft>
                <a:spcPts val="0"/>
              </a:spcAft>
              <a:buNone/>
              <a:defRPr sz="1875">
                <a:solidFill>
                  <a:srgbClr val="5864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5864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计算机网络核心原理与故障诊断</a:t>
            </a:r>
            <a:endParaRPr sz="1875" b="0">
              <a:solidFill>
                <a:srgbClr val="5864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-2"/>
          <p:cNvSpPr>
            <a:spLocks noGrp="1"/>
          </p:cNvSpPr>
          <p:nvPr/>
        </p:nvSpPr>
        <p:spPr>
          <a:xfrm>
            <a:off x="400050" y="342900"/>
            <a:ext cx="11391900" cy="1047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lnSpc>
                <a:spcPct val="105000"/>
              </a:lnSpc>
              <a:spcAft>
                <a:spcPts val="0"/>
              </a:spcAft>
              <a:buNone/>
              <a:defRPr sz="2925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9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先定位层次，再选择工具</a:t>
            </a:r>
            <a:endParaRPr sz="292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left-rule-2"/>
          <p:cNvSpPr>
            <a:spLocks noGrp="1"/>
          </p:cNvSpPr>
          <p:nvPr/>
        </p:nvSpPr>
        <p:spPr>
          <a:xfrm>
            <a:off x="400050" y="1952625"/>
            <a:ext cx="76200" cy="314325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3" name="left-2"/>
          <p:cNvSpPr>
            <a:spLocks noGrp="1"/>
          </p:cNvSpPr>
          <p:nvPr/>
        </p:nvSpPr>
        <p:spPr>
          <a:xfrm>
            <a:off x="714375" y="2076450"/>
            <a:ext cx="4905375" cy="2952750"/>
          </a:xfrm>
          <a:prstGeom prst="rect">
            <a:avLst/>
          </a:prstGeom>
        </p:spPr>
        <p:txBody>
          <a:bodyPr lIns="38100" tIns="76200" rIns="38100" bIns="38100">
            <a:norm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链路/网络层：接口、地址、路由、丢包</a:t>
            </a:r>
            <a:endParaRPr sz="16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ight-panel-2"/>
          <p:cNvSpPr>
            <a:spLocks noGrp="1"/>
          </p:cNvSpPr>
          <p:nvPr/>
        </p:nvSpPr>
        <p:spPr>
          <a:xfrm>
            <a:off x="6172200" y="1952625"/>
            <a:ext cx="5257800" cy="31432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5" name="right-2"/>
          <p:cNvSpPr>
            <a:spLocks noGrp="1"/>
          </p:cNvSpPr>
          <p:nvPr/>
        </p:nvSpPr>
        <p:spPr>
          <a:xfrm>
            <a:off x="6515100" y="2238375"/>
            <a:ext cx="4572000" cy="2571750"/>
          </a:xfrm>
          <a:prstGeom prst="rect">
            <a:avLst/>
          </a:prstGeom>
        </p:spPr>
        <p:txBody>
          <a:bodyPr lIns="57150" tIns="57150" rIns="57150" bIns="57150" anchor="ctr">
            <a:norm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应用/传输层：端口、握手、DNS、HTTP</a:t>
            </a:r>
            <a:endParaRPr sz="16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footer-2"/>
          <p:cNvSpPr>
            <a:spLocks noGrp="1"/>
          </p:cNvSpPr>
          <p:nvPr/>
        </p:nvSpPr>
        <p:spPr>
          <a:xfrm>
            <a:off x="11277600" y="6267450"/>
            <a:ext cx="514350" cy="238125"/>
          </a:xfrm>
          <a:prstGeom prst="rect">
            <a:avLst/>
          </a:prstGeom>
        </p:spPr>
        <p:txBody>
          <a:bodyPr lIns="0" tIns="0" rIns="0" bIns="0" anchor="b"/>
          <a:lstStyle/>
          <a:p>
            <a:pPr algn="r">
              <a:lnSpc>
                <a:spcPct val="105000"/>
              </a:lnSpc>
              <a:spcAft>
                <a:spcPts val="0"/>
              </a:spcAft>
              <a:buNone/>
              <a:defRPr sz="1000">
                <a:solidFill>
                  <a:srgbClr val="5864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0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title-3"/>
          <p:cNvSpPr>
            <a:spLocks noGrp="1"/>
          </p:cNvSpPr>
          <p:nvPr/>
        </p:nvSpPr>
        <p:spPr>
          <a:xfrm>
            <a:off x="400050" y="342900"/>
            <a:ext cx="11391900" cy="1047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lnSpc>
                <a:spcPct val="105000"/>
              </a:lnSpc>
              <a:spcAft>
                <a:spcPts val="0"/>
              </a:spcAft>
              <a:buNone/>
              <a:defRPr sz="2925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9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一次可复核的诊断闭环</a:t>
            </a:r>
            <a:endParaRPr sz="292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3" name="timeline-line-3"/>
          <p:cNvCxnSpPr/>
          <p:nvPr/>
        </p:nvCxnSpPr>
        <p:spPr>
          <a:xfrm>
            <a:off x="876300" y="3352800"/>
            <a:ext cx="7391400" cy="286"/>
          </a:xfrm>
          <a:prstGeom prst="straightConnector1">
            <a:avLst/>
          </a:prstGeom>
          <a:ln w="19050">
            <a:solidFill>
              <a:srgbClr val="000000"/>
            </a:solidFill>
            <a:prstDash val="solid"/>
          </a:ln>
        </p:spPr>
      </p:cxnSp>
      <p:sp>
        <p:nvSpPr>
          <p:cNvPr id="3" name="timeline-node-3-0"/>
          <p:cNvSpPr>
            <a:spLocks noGrp="1"/>
          </p:cNvSpPr>
          <p:nvPr/>
        </p:nvSpPr>
        <p:spPr>
          <a:xfrm>
            <a:off x="800100" y="3276600"/>
            <a:ext cx="152400" cy="152400"/>
          </a:xfrm>
          <a:prstGeom prst="ellipse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4" name="timeline-node-3-1"/>
          <p:cNvSpPr>
            <a:spLocks noGrp="1"/>
          </p:cNvSpPr>
          <p:nvPr/>
        </p:nvSpPr>
        <p:spPr>
          <a:xfrm>
            <a:off x="4495800" y="3276600"/>
            <a:ext cx="152400" cy="152400"/>
          </a:xfrm>
          <a:prstGeom prst="ellipse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5" name="timeline-node-3-2"/>
          <p:cNvSpPr>
            <a:spLocks noGrp="1"/>
          </p:cNvSpPr>
          <p:nvPr/>
        </p:nvSpPr>
        <p:spPr>
          <a:xfrm>
            <a:off x="8191500" y="3276600"/>
            <a:ext cx="152400" cy="152400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6" name="timeline-body-3-0"/>
          <p:cNvSpPr>
            <a:spLocks noGrp="1"/>
          </p:cNvSpPr>
          <p:nvPr/>
        </p:nvSpPr>
        <p:spPr>
          <a:xfrm>
            <a:off x="704850" y="3857625"/>
            <a:ext cx="2857500" cy="1190625"/>
          </a:xfrm>
          <a:prstGeom prst="rect">
            <a:avLst/>
          </a:prstGeom>
        </p:spPr>
        <p:txBody>
          <a:bodyPr lIns="0" tIns="0" rIns="95250" bIns="0">
            <a:norm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  <a:buNone/>
              <a:defRPr sz="1725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 复现与记录</a:t>
            </a:r>
            <a:endParaRPr sz="172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imeline-body-3-1"/>
          <p:cNvSpPr>
            <a:spLocks noGrp="1"/>
          </p:cNvSpPr>
          <p:nvPr/>
        </p:nvSpPr>
        <p:spPr>
          <a:xfrm>
            <a:off x="4400550" y="3857625"/>
            <a:ext cx="2857500" cy="1190625"/>
          </a:xfrm>
          <a:prstGeom prst="rect">
            <a:avLst/>
          </a:prstGeom>
        </p:spPr>
        <p:txBody>
          <a:bodyPr lIns="0" tIns="0" rIns="95250" bIns="0">
            <a:norm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  <a:buNone/>
              <a:defRPr sz="1725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 假设与取证</a:t>
            </a:r>
            <a:endParaRPr sz="172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imeline-body-3-2"/>
          <p:cNvSpPr>
            <a:spLocks noGrp="1"/>
          </p:cNvSpPr>
          <p:nvPr/>
        </p:nvSpPr>
        <p:spPr>
          <a:xfrm>
            <a:off x="8096250" y="3857625"/>
            <a:ext cx="2857500" cy="1190625"/>
          </a:xfrm>
          <a:prstGeom prst="rect">
            <a:avLst/>
          </a:prstGeom>
        </p:spPr>
        <p:txBody>
          <a:bodyPr lIns="0" tIns="0" rIns="95250" bIns="0">
            <a:norm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  <a:buNone/>
              <a:defRPr sz="1725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 单变量验证</a:t>
            </a:r>
            <a:endParaRPr sz="172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footer-3"/>
          <p:cNvSpPr>
            <a:spLocks noGrp="1"/>
          </p:cNvSpPr>
          <p:nvPr/>
        </p:nvSpPr>
        <p:spPr>
          <a:xfrm>
            <a:off x="11277600" y="6267450"/>
            <a:ext cx="514350" cy="238125"/>
          </a:xfrm>
          <a:prstGeom prst="rect">
            <a:avLst/>
          </a:prstGeom>
        </p:spPr>
        <p:txBody>
          <a:bodyPr lIns="0" tIns="0" rIns="0" bIns="0" anchor="b"/>
          <a:lstStyle/>
          <a:p>
            <a:pPr algn="r">
              <a:lnSpc>
                <a:spcPct val="105000"/>
              </a:lnSpc>
              <a:spcAft>
                <a:spcPts val="0"/>
              </a:spcAft>
              <a:buNone/>
              <a:defRPr sz="1000">
                <a:solidFill>
                  <a:srgbClr val="5864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0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-4"/>
          <p:cNvSpPr>
            <a:spLocks noGrp="1"/>
          </p:cNvSpPr>
          <p:nvPr/>
        </p:nvSpPr>
        <p:spPr>
          <a:xfrm>
            <a:off x="400050" y="342900"/>
            <a:ext cx="11391900" cy="1047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lnSpc>
                <a:spcPct val="105000"/>
              </a:lnSpc>
              <a:spcAft>
                <a:spcPts val="0"/>
              </a:spcAft>
              <a:buNone/>
              <a:defRPr sz="2925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9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 ping IP，不能访问域名</a:t>
            </a:r>
            <a:endParaRPr sz="292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left-rule-4"/>
          <p:cNvSpPr>
            <a:spLocks noGrp="1"/>
          </p:cNvSpPr>
          <p:nvPr/>
        </p:nvSpPr>
        <p:spPr>
          <a:xfrm>
            <a:off x="400050" y="1952625"/>
            <a:ext cx="76200" cy="314325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3" name="left-4"/>
          <p:cNvSpPr>
            <a:spLocks noGrp="1"/>
          </p:cNvSpPr>
          <p:nvPr/>
        </p:nvSpPr>
        <p:spPr>
          <a:xfrm>
            <a:off x="714375" y="2076450"/>
            <a:ext cx="4905375" cy="2952750"/>
          </a:xfrm>
          <a:prstGeom prst="rect">
            <a:avLst/>
          </a:prstGeom>
        </p:spPr>
        <p:txBody>
          <a:bodyPr lIns="38100" tIns="76200" rIns="38100" bIns="38100">
            <a:norm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支持的假设：DNS 解析失败</a:t>
            </a:r>
            <a:endParaRPr sz="16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ight-panel-4"/>
          <p:cNvSpPr>
            <a:spLocks noGrp="1"/>
          </p:cNvSpPr>
          <p:nvPr/>
        </p:nvSpPr>
        <p:spPr>
          <a:xfrm>
            <a:off x="6172200" y="1952625"/>
            <a:ext cx="5257800" cy="31432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5" name="right-4"/>
          <p:cNvSpPr>
            <a:spLocks noGrp="1"/>
          </p:cNvSpPr>
          <p:nvPr/>
        </p:nvSpPr>
        <p:spPr>
          <a:xfrm>
            <a:off x="6515100" y="2238375"/>
            <a:ext cx="4572000" cy="2571750"/>
          </a:xfrm>
          <a:prstGeom prst="rect">
            <a:avLst/>
          </a:prstGeom>
        </p:spPr>
        <p:txBody>
          <a:bodyPr lIns="57150" tIns="57150" rIns="57150" bIns="57150" anchor="ctr">
            <a:norm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反证：直接访问 IP 仍失败则继续查端口与 HTTP</a:t>
            </a:r>
            <a:endParaRPr sz="16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footer-4"/>
          <p:cNvSpPr>
            <a:spLocks noGrp="1"/>
          </p:cNvSpPr>
          <p:nvPr/>
        </p:nvSpPr>
        <p:spPr>
          <a:xfrm>
            <a:off x="11277600" y="6267450"/>
            <a:ext cx="514350" cy="238125"/>
          </a:xfrm>
          <a:prstGeom prst="rect">
            <a:avLst/>
          </a:prstGeom>
        </p:spPr>
        <p:txBody>
          <a:bodyPr lIns="0" tIns="0" rIns="0" bIns="0" anchor="b"/>
          <a:lstStyle/>
          <a:p>
            <a:pPr algn="r">
              <a:lnSpc>
                <a:spcPct val="105000"/>
              </a:lnSpc>
              <a:spcAft>
                <a:spcPts val="0"/>
              </a:spcAft>
              <a:buNone/>
              <a:defRPr sz="1000">
                <a:solidFill>
                  <a:srgbClr val="5864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0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itle-5"/>
          <p:cNvSpPr>
            <a:spLocks noGrp="1"/>
          </p:cNvSpPr>
          <p:nvPr/>
        </p:nvSpPr>
        <p:spPr>
          <a:xfrm>
            <a:off x="400050" y="342900"/>
            <a:ext cx="11391900" cy="952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lnSpc>
                <a:spcPct val="105000"/>
              </a:lnSpc>
              <a:spcAft>
                <a:spcPts val="0"/>
              </a:spcAft>
              <a:buNone/>
              <a:defRPr sz="2925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9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常用工具与证据</a:t>
            </a:r>
            <a:endParaRPr sz="292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8" name="evidence-table-5"/>
          <p:cNvGraphicFramePr/>
          <p:nvPr/>
        </p:nvGraphicFramePr>
        <p:xfrm>
          <a:off x="400050" y="1600200"/>
          <a:ext cx="11401425" cy="4095750"/>
        </p:xfrm>
        <a:graphic>
          <a:graphicData uri="http://schemas.openxmlformats.org/drawingml/2006/table">
            <a:tbl>
              <a:tblPr/>
              <a:tblGrid>
                <a:gridCol w="2476500"/>
                <a:gridCol w="3714750"/>
                <a:gridCol w="5210175"/>
              </a:tblGrid>
              <a:tr h="819150">
                <a:tc>
                  <a:txBody>
                    <a:bodyPr/>
                    <a:lstStyle/>
                    <a:p>
                      <a:r>
                        <a:t>工具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主要证据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常见误读</a:t>
                      </a:r>
                    </a:p>
                  </a:txBody>
                  <a:tcPr/>
                </a:tc>
              </a:tr>
              <a:tr h="819150">
                <a:tc>
                  <a:txBody>
                    <a:bodyPr/>
                    <a:lstStyle/>
                    <a:p>
                      <a:r>
                        <a:t>ping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可达性与 RTT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失败不等于物理断线</a:t>
                      </a:r>
                    </a:p>
                  </a:txBody>
                  <a:tcPr/>
                </a:tc>
              </a:tr>
              <a:tr h="819150">
                <a:tc>
                  <a:txBody>
                    <a:bodyPr/>
                    <a:lstStyle/>
                    <a:p>
                      <a:r>
                        <a:t>traceroute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路径跳点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星号不等于该跳必坏</a:t>
                      </a:r>
                    </a:p>
                  </a:txBody>
                  <a:tcPr/>
                </a:tc>
              </a:tr>
              <a:tr h="819150">
                <a:tc>
                  <a:txBody>
                    <a:bodyPr/>
                    <a:lstStyle/>
                    <a:p>
                      <a:r>
                        <a:t>dig/nslookup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DNS 记录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命中缓存不代表权威区正确</a:t>
                      </a:r>
                    </a:p>
                  </a:txBody>
                  <a:tcPr/>
                </a:tc>
              </a:tr>
              <a:tr h="819150">
                <a:tc>
                  <a:txBody>
                    <a:bodyPr/>
                    <a:lstStyle/>
                    <a:p>
                      <a:r>
                        <a:t>curl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HTTP 状态和头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状态码需结合响应体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table-accent-5"/>
          <p:cNvSpPr>
            <a:spLocks noGrp="1"/>
          </p:cNvSpPr>
          <p:nvPr/>
        </p:nvSpPr>
        <p:spPr>
          <a:xfrm>
            <a:off x="400050" y="1476375"/>
            <a:ext cx="11401425" cy="76200"/>
          </a:xfrm>
          <a:prstGeom prst="rect">
            <a:avLst/>
          </a:prstGeom>
          <a:solidFill>
            <a:srgbClr val="D0EDFA"/>
          </a:solidFill>
          <a:ln w="0">
            <a:noFill/>
            <a:prstDash val="solid"/>
          </a:ln>
        </p:spPr>
      </p:sp>
      <p:sp>
        <p:nvSpPr>
          <p:cNvPr id="4" name="footer-5"/>
          <p:cNvSpPr>
            <a:spLocks noGrp="1"/>
          </p:cNvSpPr>
          <p:nvPr/>
        </p:nvSpPr>
        <p:spPr>
          <a:xfrm>
            <a:off x="11277600" y="6267450"/>
            <a:ext cx="514350" cy="238125"/>
          </a:xfrm>
          <a:prstGeom prst="rect">
            <a:avLst/>
          </a:prstGeom>
        </p:spPr>
        <p:txBody>
          <a:bodyPr lIns="0" tIns="0" rIns="0" bIns="0" anchor="b"/>
          <a:lstStyle/>
          <a:p>
            <a:pPr algn="r">
              <a:lnSpc>
                <a:spcPct val="105000"/>
              </a:lnSpc>
              <a:spcAft>
                <a:spcPts val="0"/>
              </a:spcAft>
              <a:buNone/>
              <a:defRPr sz="1000">
                <a:solidFill>
                  <a:srgbClr val="5864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0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-6"/>
          <p:cNvSpPr>
            <a:spLocks noGrp="1"/>
          </p:cNvSpPr>
          <p:nvPr/>
        </p:nvSpPr>
        <p:spPr>
          <a:xfrm>
            <a:off x="400050" y="342900"/>
            <a:ext cx="11391900" cy="1047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lnSpc>
                <a:spcPct val="105000"/>
              </a:lnSpc>
              <a:spcAft>
                <a:spcPts val="0"/>
              </a:spcAft>
              <a:buNone/>
              <a:defRPr sz="2925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9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TCP 握手抓包判读</a:t>
            </a:r>
            <a:endParaRPr sz="292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left-rule-6"/>
          <p:cNvSpPr>
            <a:spLocks noGrp="1"/>
          </p:cNvSpPr>
          <p:nvPr/>
        </p:nvSpPr>
        <p:spPr>
          <a:xfrm>
            <a:off x="400050" y="1952625"/>
            <a:ext cx="76200" cy="314325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3" name="left-6"/>
          <p:cNvSpPr>
            <a:spLocks noGrp="1"/>
          </p:cNvSpPr>
          <p:nvPr/>
        </p:nvSpPr>
        <p:spPr>
          <a:xfrm>
            <a:off x="714375" y="2076450"/>
            <a:ext cx="4905375" cy="2952750"/>
          </a:xfrm>
          <a:prstGeom prst="rect">
            <a:avLst/>
          </a:prstGeom>
        </p:spPr>
        <p:txBody>
          <a:bodyPr lIns="38100" tIns="76200" rIns="38100" bIns="38100">
            <a:norm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只有 SYN：检查监听、防火墙与回程</a:t>
            </a:r>
            <a:endParaRPr sz="16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ight-panel-6"/>
          <p:cNvSpPr>
            <a:spLocks noGrp="1"/>
          </p:cNvSpPr>
          <p:nvPr/>
        </p:nvSpPr>
        <p:spPr>
          <a:xfrm>
            <a:off x="6172200" y="1952625"/>
            <a:ext cx="5257800" cy="31432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5" name="right-6"/>
          <p:cNvSpPr>
            <a:spLocks noGrp="1"/>
          </p:cNvSpPr>
          <p:nvPr/>
        </p:nvSpPr>
        <p:spPr>
          <a:xfrm>
            <a:off x="6515100" y="2238375"/>
            <a:ext cx="4572000" cy="2571750"/>
          </a:xfrm>
          <a:prstGeom prst="rect">
            <a:avLst/>
          </a:prstGeom>
        </p:spPr>
        <p:txBody>
          <a:bodyPr lIns="57150" tIns="57150" rIns="57150" bIns="57150" anchor="ctr">
            <a:norm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SYN/SYN-ACK 后无 ACK：检查客户端路径或状态</a:t>
            </a:r>
            <a:endParaRPr sz="16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footer-6"/>
          <p:cNvSpPr>
            <a:spLocks noGrp="1"/>
          </p:cNvSpPr>
          <p:nvPr/>
        </p:nvSpPr>
        <p:spPr>
          <a:xfrm>
            <a:off x="11277600" y="6267450"/>
            <a:ext cx="514350" cy="238125"/>
          </a:xfrm>
          <a:prstGeom prst="rect">
            <a:avLst/>
          </a:prstGeom>
        </p:spPr>
        <p:txBody>
          <a:bodyPr lIns="0" tIns="0" rIns="0" bIns="0" anchor="b"/>
          <a:lstStyle/>
          <a:p>
            <a:pPr algn="r">
              <a:lnSpc>
                <a:spcPct val="105000"/>
              </a:lnSpc>
              <a:spcAft>
                <a:spcPts val="0"/>
              </a:spcAft>
              <a:buNone/>
              <a:defRPr sz="1000">
                <a:solidFill>
                  <a:srgbClr val="5864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endParaRPr sz="10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title-7"/>
          <p:cNvSpPr>
            <a:spLocks noGrp="1"/>
          </p:cNvSpPr>
          <p:nvPr/>
        </p:nvSpPr>
        <p:spPr>
          <a:xfrm>
            <a:off x="400050" y="342900"/>
            <a:ext cx="11391900" cy="1047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lnSpc>
                <a:spcPct val="105000"/>
              </a:lnSpc>
              <a:spcAft>
                <a:spcPts val="0"/>
              </a:spcAft>
              <a:buNone/>
              <a:defRPr sz="2925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9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订正时必须补齐证据链</a:t>
            </a:r>
            <a:endParaRPr sz="292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3" name="timeline-line-7"/>
          <p:cNvCxnSpPr/>
          <p:nvPr/>
        </p:nvCxnSpPr>
        <p:spPr>
          <a:xfrm>
            <a:off x="876300" y="3352800"/>
            <a:ext cx="7391400" cy="286"/>
          </a:xfrm>
          <a:prstGeom prst="straightConnector1">
            <a:avLst/>
          </a:prstGeom>
          <a:ln w="19050">
            <a:solidFill>
              <a:srgbClr val="000000"/>
            </a:solidFill>
            <a:prstDash val="solid"/>
          </a:ln>
        </p:spPr>
      </p:cxnSp>
      <p:sp>
        <p:nvSpPr>
          <p:cNvPr id="3" name="timeline-node-7-0"/>
          <p:cNvSpPr>
            <a:spLocks noGrp="1"/>
          </p:cNvSpPr>
          <p:nvPr/>
        </p:nvSpPr>
        <p:spPr>
          <a:xfrm>
            <a:off x="800100" y="3276600"/>
            <a:ext cx="152400" cy="152400"/>
          </a:xfrm>
          <a:prstGeom prst="ellipse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4" name="timeline-node-7-1"/>
          <p:cNvSpPr>
            <a:spLocks noGrp="1"/>
          </p:cNvSpPr>
          <p:nvPr/>
        </p:nvSpPr>
        <p:spPr>
          <a:xfrm>
            <a:off x="4495800" y="3276600"/>
            <a:ext cx="152400" cy="152400"/>
          </a:xfrm>
          <a:prstGeom prst="ellipse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5" name="timeline-node-7-2"/>
          <p:cNvSpPr>
            <a:spLocks noGrp="1"/>
          </p:cNvSpPr>
          <p:nvPr/>
        </p:nvSpPr>
        <p:spPr>
          <a:xfrm>
            <a:off x="8191500" y="3276600"/>
            <a:ext cx="152400" cy="152400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6" name="timeline-body-7-0"/>
          <p:cNvSpPr>
            <a:spLocks noGrp="1"/>
          </p:cNvSpPr>
          <p:nvPr/>
        </p:nvSpPr>
        <p:spPr>
          <a:xfrm>
            <a:off x="704850" y="3857625"/>
            <a:ext cx="2857500" cy="1190625"/>
          </a:xfrm>
          <a:prstGeom prst="rect">
            <a:avLst/>
          </a:prstGeom>
        </p:spPr>
        <p:txBody>
          <a:bodyPr lIns="0" tIns="0" rIns="95250" bIns="0">
            <a:norm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  <a:buNone/>
              <a:defRPr sz="1725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 原结论</a:t>
            </a:r>
            <a:endParaRPr sz="172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imeline-body-7-1"/>
          <p:cNvSpPr>
            <a:spLocks noGrp="1"/>
          </p:cNvSpPr>
          <p:nvPr/>
        </p:nvSpPr>
        <p:spPr>
          <a:xfrm>
            <a:off x="4400550" y="3857625"/>
            <a:ext cx="2857500" cy="1190625"/>
          </a:xfrm>
          <a:prstGeom prst="rect">
            <a:avLst/>
          </a:prstGeom>
        </p:spPr>
        <p:txBody>
          <a:bodyPr lIns="0" tIns="0" rIns="95250" bIns="0">
            <a:norm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  <a:buNone/>
              <a:defRPr sz="1725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 新证据</a:t>
            </a:r>
            <a:endParaRPr sz="172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imeline-body-7-2"/>
          <p:cNvSpPr>
            <a:spLocks noGrp="1"/>
          </p:cNvSpPr>
          <p:nvPr/>
        </p:nvSpPr>
        <p:spPr>
          <a:xfrm>
            <a:off x="8096250" y="3857625"/>
            <a:ext cx="2857500" cy="1190625"/>
          </a:xfrm>
          <a:prstGeom prst="rect">
            <a:avLst/>
          </a:prstGeom>
        </p:spPr>
        <p:txBody>
          <a:bodyPr lIns="0" tIns="0" rIns="95250" bIns="0">
            <a:norm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  <a:buNone/>
              <a:defRPr sz="1725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 修正后的结论</a:t>
            </a:r>
            <a:endParaRPr sz="172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footer-7"/>
          <p:cNvSpPr>
            <a:spLocks noGrp="1"/>
          </p:cNvSpPr>
          <p:nvPr/>
        </p:nvSpPr>
        <p:spPr>
          <a:xfrm>
            <a:off x="11277600" y="6267450"/>
            <a:ext cx="514350" cy="238125"/>
          </a:xfrm>
          <a:prstGeom prst="rect">
            <a:avLst/>
          </a:prstGeom>
        </p:spPr>
        <p:txBody>
          <a:bodyPr lIns="0" tIns="0" rIns="0" bIns="0" anchor="b"/>
          <a:lstStyle/>
          <a:p>
            <a:pPr algn="r">
              <a:lnSpc>
                <a:spcPct val="105000"/>
              </a:lnSpc>
              <a:spcAft>
                <a:spcPts val="0"/>
              </a:spcAft>
              <a:buNone/>
              <a:defRPr sz="1000">
                <a:solidFill>
                  <a:srgbClr val="5864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endParaRPr sz="10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-8"/>
          <p:cNvSpPr>
            <a:spLocks noGrp="1"/>
          </p:cNvSpPr>
          <p:nvPr/>
        </p:nvSpPr>
        <p:spPr>
          <a:xfrm>
            <a:off x="400050" y="342900"/>
            <a:ext cx="11391900" cy="1047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lnSpc>
                <a:spcPct val="105000"/>
              </a:lnSpc>
              <a:spcAft>
                <a:spcPts val="0"/>
              </a:spcAft>
              <a:buNone/>
              <a:defRPr sz="2925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9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安全边界</a:t>
            </a:r>
            <a:endParaRPr sz="292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left-rule-8"/>
          <p:cNvSpPr>
            <a:spLocks noGrp="1"/>
          </p:cNvSpPr>
          <p:nvPr/>
        </p:nvSpPr>
        <p:spPr>
          <a:xfrm>
            <a:off x="400050" y="1952625"/>
            <a:ext cx="76200" cy="314325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3" name="left-8"/>
          <p:cNvSpPr>
            <a:spLocks noGrp="1"/>
          </p:cNvSpPr>
          <p:nvPr/>
        </p:nvSpPr>
        <p:spPr>
          <a:xfrm>
            <a:off x="714375" y="2076450"/>
            <a:ext cx="4905375" cy="2952750"/>
          </a:xfrm>
          <a:prstGeom prst="rect">
            <a:avLst/>
          </a:prstGeom>
        </p:spPr>
        <p:txBody>
          <a:bodyPr lIns="38100" tIns="76200" rIns="38100" bIns="38100">
            <a:norm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不泄漏标准答案，不执行破坏性命令</a:t>
            </a:r>
            <a:endParaRPr sz="16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ight-panel-8"/>
          <p:cNvSpPr>
            <a:spLocks noGrp="1"/>
          </p:cNvSpPr>
          <p:nvPr/>
        </p:nvSpPr>
        <p:spPr>
          <a:xfrm>
            <a:off x="6172200" y="1952625"/>
            <a:ext cx="5257800" cy="31432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5" name="right-8"/>
          <p:cNvSpPr>
            <a:spLocks noGrp="1"/>
          </p:cNvSpPr>
          <p:nvPr/>
        </p:nvSpPr>
        <p:spPr>
          <a:xfrm>
            <a:off x="6515100" y="2238375"/>
            <a:ext cx="4572000" cy="2571750"/>
          </a:xfrm>
          <a:prstGeom prst="rect">
            <a:avLst/>
          </a:prstGeom>
        </p:spPr>
        <p:txBody>
          <a:bodyPr lIns="57150" tIns="57150" rIns="57150" bIns="57150" anchor="ctr">
            <a:norm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所有身份、地址与日志均使用测试数据</a:t>
            </a:r>
            <a:endParaRPr sz="16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footer-8"/>
          <p:cNvSpPr>
            <a:spLocks noGrp="1"/>
          </p:cNvSpPr>
          <p:nvPr/>
        </p:nvSpPr>
        <p:spPr>
          <a:xfrm>
            <a:off x="11277600" y="6267450"/>
            <a:ext cx="514350" cy="238125"/>
          </a:xfrm>
          <a:prstGeom prst="rect">
            <a:avLst/>
          </a:prstGeom>
        </p:spPr>
        <p:txBody>
          <a:bodyPr lIns="0" tIns="0" rIns="0" bIns="0" anchor="b"/>
          <a:lstStyle/>
          <a:p>
            <a:pPr algn="r">
              <a:lnSpc>
                <a:spcPct val="105000"/>
              </a:lnSpc>
              <a:spcAft>
                <a:spcPts val="0"/>
              </a:spcAft>
              <a:buNone/>
              <a:defRPr sz="1000">
                <a:solidFill>
                  <a:srgbClr val="5864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endParaRPr sz="10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itle-9"/>
          <p:cNvSpPr>
            <a:spLocks noGrp="1"/>
          </p:cNvSpPr>
          <p:nvPr/>
        </p:nvSpPr>
        <p:spPr>
          <a:xfrm>
            <a:off x="400050" y="342900"/>
            <a:ext cx="11391900" cy="952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lnSpc>
                <a:spcPct val="105000"/>
              </a:lnSpc>
              <a:spcAft>
                <a:spcPts val="0"/>
              </a:spcAft>
              <a:buNone/>
              <a:defRPr sz="2925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925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课堂任务</a:t>
            </a:r>
            <a:endParaRPr sz="2925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8" name="evidence-table-9"/>
          <p:cNvGraphicFramePr/>
          <p:nvPr/>
        </p:nvGraphicFramePr>
        <p:xfrm>
          <a:off x="400050" y="1600200"/>
          <a:ext cx="11401425" cy="4095752"/>
        </p:xfrm>
        <a:graphic>
          <a:graphicData uri="http://schemas.openxmlformats.org/drawingml/2006/table">
            <a:tbl>
              <a:tblPr/>
              <a:tblGrid>
                <a:gridCol w="2476500"/>
                <a:gridCol w="3714750"/>
                <a:gridCol w="5210175"/>
              </a:tblGrid>
              <a:tr h="1023938">
                <a:tc>
                  <a:txBody>
                    <a:bodyPr/>
                    <a:lstStyle/>
                    <a:p>
                      <a:r>
                        <a:t>任务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交付物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通过标准</a:t>
                      </a:r>
                    </a:p>
                  </a:txBody>
                  <a:tcPr/>
                </a:tc>
              </a:tr>
              <a:tr h="1023938">
                <a:tc>
                  <a:txBody>
                    <a:bodyPr/>
                    <a:lstStyle/>
                    <a:p>
                      <a:r>
                        <a:t>定位 DNS 故障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三条命令和解释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结论可由输出支持</a:t>
                      </a:r>
                    </a:p>
                  </a:txBody>
                  <a:tcPr/>
                </a:tc>
              </a:tr>
              <a:tr h="1023938">
                <a:tc>
                  <a:txBody>
                    <a:bodyPr/>
                    <a:lstStyle/>
                    <a:p>
                      <a:r>
                        <a:t>比较 TCP/UDP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场景决策表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能说明取舍</a:t>
                      </a:r>
                    </a:p>
                  </a:txBody>
                  <a:tcPr/>
                </a:tc>
              </a:tr>
              <a:tr h="1023938">
                <a:tc>
                  <a:txBody>
                    <a:bodyPr/>
                    <a:lstStyle/>
                    <a:p>
                      <a:r>
                        <a:t>计算吞吐量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过程和单位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数值与单位一致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table-accent-9"/>
          <p:cNvSpPr>
            <a:spLocks noGrp="1"/>
          </p:cNvSpPr>
          <p:nvPr/>
        </p:nvSpPr>
        <p:spPr>
          <a:xfrm>
            <a:off x="400050" y="1476375"/>
            <a:ext cx="11401425" cy="76200"/>
          </a:xfrm>
          <a:prstGeom prst="rect">
            <a:avLst/>
          </a:prstGeom>
          <a:solidFill>
            <a:srgbClr val="D0EDFA"/>
          </a:solidFill>
          <a:ln w="0">
            <a:noFill/>
            <a:prstDash val="solid"/>
          </a:ln>
        </p:spPr>
      </p:sp>
      <p:sp>
        <p:nvSpPr>
          <p:cNvPr id="4" name="footer-9"/>
          <p:cNvSpPr>
            <a:spLocks noGrp="1"/>
          </p:cNvSpPr>
          <p:nvPr/>
        </p:nvSpPr>
        <p:spPr>
          <a:xfrm>
            <a:off x="11277600" y="6267450"/>
            <a:ext cx="514350" cy="238125"/>
          </a:xfrm>
          <a:prstGeom prst="rect">
            <a:avLst/>
          </a:prstGeom>
        </p:spPr>
        <p:txBody>
          <a:bodyPr lIns="0" tIns="0" rIns="0" bIns="0" anchor="b"/>
          <a:lstStyle/>
          <a:p>
            <a:pPr algn="r">
              <a:lnSpc>
                <a:spcPct val="105000"/>
              </a:lnSpc>
              <a:spcAft>
                <a:spcPts val="0"/>
              </a:spcAft>
              <a:buNone/>
              <a:defRPr sz="1000">
                <a:solidFill>
                  <a:srgbClr val="5864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</a:t>
            </a:r>
            <a:endParaRPr sz="10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501</Words>
  <Application>WPS 演示</Application>
  <PresentationFormat>Converted Presentation</PresentationFormat>
  <Paragraphs>120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4" baseType="lpstr">
      <vt:lpstr>Arial</vt:lpstr>
      <vt:lpstr>宋体</vt:lpstr>
      <vt:lpstr>Wingdings</vt:lpstr>
      <vt:lpstr>微软雅黑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Admin</cp:lastModifiedBy>
  <cp:revision>1</cp:revision>
  <dcterms:created xsi:type="dcterms:W3CDTF">2026-08-25T01:31:45Z</dcterms:created>
  <dcterms:modified xsi:type="dcterms:W3CDTF">2026-08-25T01:31:45Z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A12FF9716E324F38817C27AD77FBF2A5_13</vt:lpwstr>
  </property>
  <property fmtid="{D5CDD505-2E9C-101B-9397-08002B2CF9AE}" pid="3" name="KSOProductBuildVer">
    <vt:lpwstr>2052-12.1.0.28043</vt:lpwstr>
  </property>
</Properties>
</file>